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Open with the 10-second hook, then land 30% on screen. Pause after “guesswork.” This hour is a map of where Mechanical and EEE work sits in a smart building — not a vendor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Draw the loop if you can. Ask: where does your final-year project sit — sensor, controller, or actuator?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BMS work is control engineering, not clicking graphics. 24×7 IT campuses: latent load and unreliable grid make sequences and backup power the same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IoT without calibration is noise. Story: a CO2 sensor in return air that “proved” a packed exam hall was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Say slowly: AI is a supervisor, BMS is the operator, physics is the law. Example: detecting a 3°C chilled-water delta-T collapse before the bill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Put simple bill math on screen: demand vs energy charge. Tie it to VFDs, staging, and power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Systems-thinking slide. Point at Mech and EEE: who owns cybersecurity? Both, plus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Internships: FM, controls OEMs, ESCOs, data-centre MEP. Portfolio = points list + sequence + trend, not only CAD.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slide earns trust. Do not rush. You will use it when someone says AI is hype or smart buildings are only for rich campuses.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Deliver the close standing still. End on the CTA, then the thank-you. Leave 8–10 minutes for hard questions. Thank them as future operators of India’s next 20 years of floor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C97"/>
                </a:solidFill>
                <a:latin typeface="Calibri"/>
                <a:ea typeface="Calibri"/>
              </a:rPr>
              <a:t>01  /  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4F1E8"/>
                </a:solidFill>
                <a:latin typeface="Calibri"/>
                <a:ea typeface="Calibri"/>
              </a:rPr>
              <a:t>The building is now a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920240" cy="4114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01168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B93A7"/>
                </a:solidFill>
                <a:latin typeface="Calibri"/>
                <a:ea typeface="Calibri"/>
              </a:rPr>
              <a:t>MECH  ×  EEE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01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Future of Smart Buildings  ·  BMS · IoT · AI · Energy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7EB6FF"/>
                </a:solidFill>
                <a:latin typeface="Calibri"/>
                <a:ea typeface="Calibri"/>
              </a:rPr>
              <a:t>Buildings eat 30% of the world’s energy. Most of them still run on guesswork.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595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IEA: buildings take ~30% of global final energy and ~26% of energy-related CO2.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UNEP: buildings &amp; construction ~37% of energy-related CO2 — retrofit decides the next 20 years.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Most commercial HVAC still sequences on clocks and design loads, not occupancy, weather, or tariff.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The bottleneck is integration and control logic — not another chiller brand.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Mech owns the physics; EEE owns the electrons. Software without that literacy fails in the plant room.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Visual: night tower + ducts/busbars. One huge 30%.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68880" cy="4983480"/>
          </a:xfrm>
          <a:prstGeom prst="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1234440"/>
            <a:ext cx="73152" cy="498348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508760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547"/>
                </a:solidFill>
                <a:latin typeface="Calibri"/>
                <a:ea typeface="Calibri"/>
              </a:rPr>
              <a:t>HOLD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148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DDC97"/>
                </a:solidFill>
                <a:latin typeface="Calibri"/>
                <a:ea typeface="Calibri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148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1E8"/>
                </a:solidFill>
                <a:latin typeface="Calibri"/>
                <a:ea typeface="Calibri"/>
              </a:rPr>
              <a:t>of global final energy
in buildings (IEA)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C97"/>
                </a:solidFill>
                <a:latin typeface="Calibri"/>
                <a:ea typeface="Calibri"/>
              </a:rPr>
              <a:t>02  / 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4F1E8"/>
                </a:solidFill>
                <a:latin typeface="Calibri"/>
                <a:ea typeface="Calibri"/>
              </a:rPr>
              <a:t>What “smart” actually means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920240" cy="4114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01168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B93A7"/>
                </a:solidFill>
                <a:latin typeface="Calibri"/>
                <a:ea typeface="Calibri"/>
              </a:rPr>
              <a:t>MECH  ×  EEE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02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Future of Smart Buildings  ·  BMS · IoT · AI · Energy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7EB6FF"/>
                </a:solidFill>
                <a:latin typeface="Calibri"/>
                <a:ea typeface="Calibri"/>
              </a:rPr>
              <a:t>A smart building is a closed-loop control system with a carbon and rupee constraint.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595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Sense: T, RH, CO2, occupancy, kW/kWh, flow, pressure, lux, equipment status.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Decide: BMS sequences and setpoints — ASHRAE logic before apps.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Actuate: valves, dampers, VFDs, lighting, ATS/DG, chillers, pumps.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Verify: submetering and trends. If you cannot prove 12%, you did not save 12%.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Example: occupancy + CO2 resets outdoor air; tariff sheds non-critical loads.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Visual: four-layer stack with Mech vs EEE ownership tags.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68880" cy="4983480"/>
          </a:xfrm>
          <a:prstGeom prst="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1234440"/>
            <a:ext cx="73152" cy="498348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508760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547"/>
                </a:solidFill>
                <a:latin typeface="Calibri"/>
                <a:ea typeface="Calibri"/>
              </a:rPr>
              <a:t>HOLD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148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DDC97"/>
                </a:solidFill>
                <a:latin typeface="Calibri"/>
                <a:ea typeface="Calibri"/>
              </a:rPr>
              <a:t>S→D→A→V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148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1E8"/>
                </a:solidFill>
                <a:latin typeface="Calibri"/>
                <a:ea typeface="Calibri"/>
              </a:rPr>
              <a:t>Sense · Decide
Actuate · Verify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C97"/>
                </a:solidFill>
                <a:latin typeface="Calibri"/>
                <a:ea typeface="Calibri"/>
              </a:rPr>
              <a:t>03  /  BMS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4F1E8"/>
                </a:solidFill>
                <a:latin typeface="Calibri"/>
                <a:ea typeface="Calibri"/>
              </a:rPr>
              <a:t>The building’s operating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920240" cy="4114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01168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B93A7"/>
                </a:solidFill>
                <a:latin typeface="Calibri"/>
                <a:ea typeface="Calibri"/>
              </a:rPr>
              <a:t>MECH  ×  EEE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03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Future of Smart Buildings  ·  BMS · IoT · AI · Energy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7EB6FF"/>
                </a:solidFill>
                <a:latin typeface="Calibri"/>
                <a:ea typeface="Calibri"/>
              </a:rPr>
              <a:t>If the BMS is weak, IoT and AI are decoration on a broken plant.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595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A BMS is a distributed control system: controllers, I/O, workstation, trends, alarms — cousin to DCS/SCADA.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Sequences (ASHRAE Guideline 36 trim-and-respond) can cut fan energy 10–30% vs fixed setpoint.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Mid-size office: often 2,000–8,000 points. Naming and calibration decide maintainability.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Meters, DG, UPS, lifts, lighting on one time-synced historian.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Commissioning / retro-commissioning often finds 5–20% before any AI purchase.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Visual: chiller → pumps → AHUs → VAV with BACnet objects.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68880" cy="4983480"/>
          </a:xfrm>
          <a:prstGeom prst="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1234440"/>
            <a:ext cx="73152" cy="498348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508760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547"/>
                </a:solidFill>
                <a:latin typeface="Calibri"/>
                <a:ea typeface="Calibri"/>
              </a:rPr>
              <a:t>HOLD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148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DDC97"/>
                </a:solidFill>
                <a:latin typeface="Calibri"/>
                <a:ea typeface="Calibri"/>
              </a:rPr>
              <a:t>5–20%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148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1E8"/>
                </a:solidFill>
                <a:latin typeface="Calibri"/>
                <a:ea typeface="Calibri"/>
              </a:rPr>
              <a:t>typical savings from
commissioning alone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C97"/>
                </a:solidFill>
                <a:latin typeface="Calibri"/>
                <a:ea typeface="Calibri"/>
              </a:rPr>
              <a:t>04  / 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4F1E8"/>
                </a:solidFill>
                <a:latin typeface="Calibri"/>
                <a:ea typeface="Calibri"/>
              </a:rPr>
              <a:t>From sparse sensors to a dense twin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920240" cy="4114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01168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B93A7"/>
                </a:solidFill>
                <a:latin typeface="Calibri"/>
                <a:ea typeface="Calibri"/>
              </a:rPr>
              <a:t>MECH  ×  EEE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04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Future of Smart Buildings  ·  BMS · IoT · AI · Energy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7EB6FF"/>
                </a:solidFill>
                <a:latin typeface="Calibri"/>
                <a:ea typeface="Calibri"/>
              </a:rPr>
              <a:t>IoT does not replace the BMS. It densifies the measurement layer it always needed.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595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Classic BMS: a few zone sensors. IoT: occupancy, IAQ, plug meters, vibration — often 5–10× more points.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Wireless (LoRaWAN, BLE, Wi-Fi, NB-IoT) instruments existing campuses without tearing every ceiling.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Occupancy-driven HVAC commonly shows 10–25% HVAC reduction when schedules match reality.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EEE: CT/PT accuracy and OT security. A 2% CT error wrecks a 5% “AI savings” claim.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Mech: sensor placement, stratification, dirty filters that make a dashboard lie.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Visual: occupancy heatmap vs a dirty, uncalibrated duct sensor.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68880" cy="4983480"/>
          </a:xfrm>
          <a:prstGeom prst="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1234440"/>
            <a:ext cx="73152" cy="498348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508760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547"/>
                </a:solidFill>
                <a:latin typeface="Calibri"/>
                <a:ea typeface="Calibri"/>
              </a:rPr>
              <a:t>HOLD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148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DDC97"/>
                </a:solidFill>
                <a:latin typeface="Calibri"/>
                <a:ea typeface="Calibri"/>
              </a:rPr>
              <a:t>10–25%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148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1E8"/>
                </a:solidFill>
                <a:latin typeface="Calibri"/>
                <a:ea typeface="Calibri"/>
              </a:rPr>
              <a:t>HVAC energy when
schedules match occupancy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C97"/>
                </a:solidFill>
                <a:latin typeface="Calibri"/>
                <a:ea typeface="Calibri"/>
              </a:rPr>
              <a:t>05  / 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4F1E8"/>
                </a:solidFill>
                <a:latin typeface="Calibri"/>
                <a:ea typeface="Calibri"/>
              </a:rPr>
              <a:t>From rules to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920240" cy="4114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01168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B93A7"/>
                </a:solidFill>
                <a:latin typeface="Calibri"/>
                <a:ea typeface="Calibri"/>
              </a:rPr>
              <a:t>MECH  ×  EEE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05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Future of Smart Buildings  ·  BMS · IoT · AI · Energy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7EB6FF"/>
                </a:solidFill>
                <a:latin typeface="Calibri"/>
                <a:ea typeface="Calibri"/>
              </a:rPr>
              <a:t>Use AI to find the broken valve and tomorrow’s peak — not to reinvent thermodynamics.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595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Fault detection (FDD): stuck dampers, simultaneous heat/cool, fouled condensers — 10–30% avoidable waste.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Load and occupancy forecasting for chiller staging, storage, and DG/grid decisions.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Supervisory optimization proposes setpoints; BMS still executes interlocks, freeze protection, fire modes.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Data-centre ML cooling is a cousin idea — occupied buildings are messier. Transfer the method, not the hype.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Guardrail: a model that “saves energy” by starving outdoor air is a health failure.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Visual: FDD fault tree | 24-hour kW forecast vs demand-limit band.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68880" cy="4983480"/>
          </a:xfrm>
          <a:prstGeom prst="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1234440"/>
            <a:ext cx="73152" cy="498348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508760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547"/>
                </a:solidFill>
                <a:latin typeface="Calibri"/>
                <a:ea typeface="Calibri"/>
              </a:rPr>
              <a:t>HOLD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148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DDC97"/>
                </a:solidFill>
                <a:latin typeface="Calibri"/>
                <a:ea typeface="Calibri"/>
              </a:rPr>
              <a:t>AI ⊂ BMS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148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1E8"/>
                </a:solidFill>
                <a:latin typeface="Calibri"/>
                <a:ea typeface="Calibri"/>
              </a:rPr>
              <a:t>supervisor, not
the safety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C97"/>
                </a:solidFill>
                <a:latin typeface="Calibri"/>
                <a:ea typeface="Calibri"/>
              </a:rPr>
              <a:t>06  / 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4F1E8"/>
                </a:solidFill>
                <a:latin typeface="Calibri"/>
                <a:ea typeface="Calibri"/>
              </a:rPr>
              <a:t>The scoreboard and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920240" cy="4114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01168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B93A7"/>
                </a:solidFill>
                <a:latin typeface="Calibri"/>
                <a:ea typeface="Calibri"/>
              </a:rPr>
              <a:t>MECH  ×  EEE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06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Future of Smart Buildings  ·  BMS · IoT · AI · Energy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7EB6FF"/>
                </a:solidFill>
                <a:latin typeface="Calibri"/>
                <a:ea typeface="Calibri"/>
              </a:rPr>
              <a:t>Energy management is not a green poster. It is metered, tariff-aware, plant-level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595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Split meters: incoming HT/LT, chiller plant, lighting, plug, critical IT — or “8% savings” is a story.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India: ToD tariffs, demand charges, DG at ~₹25–40/kWh. Shaving 100 kW at 18:00 can beat a 5% all-day kWh cut.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Thermal storage, pre-cooling, and kW/TR are Mechanical core — now visible in real time.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Solar + BMS interlocks so PV does not fight the diesel plant (EEE: inverters, harmonics, islanding).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A plant at 0.55–0.70 kW/TR vs neglected 0.90–1.1 kW/TR is a larger lever than swapping every LED twice.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Visual: Sankey — grid + DG + solar → chillers, AHUs, lighting,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68880" cy="4983480"/>
          </a:xfrm>
          <a:prstGeom prst="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1234440"/>
            <a:ext cx="73152" cy="498348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508760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547"/>
                </a:solidFill>
                <a:latin typeface="Calibri"/>
                <a:ea typeface="Calibri"/>
              </a:rPr>
              <a:t>HOLD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148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DDC97"/>
                </a:solidFill>
                <a:latin typeface="Calibri"/>
                <a:ea typeface="Calibri"/>
              </a:rPr>
              <a:t>kW/TR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148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1E8"/>
                </a:solidFill>
                <a:latin typeface="Calibri"/>
                <a:ea typeface="Calibri"/>
              </a:rPr>
              <a:t>the plant KPI that
beats a green poster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C97"/>
                </a:solidFill>
                <a:latin typeface="Calibri"/>
                <a:ea typeface="Calibri"/>
              </a:rPr>
              <a:t>07  / 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4F1E8"/>
                </a:solidFill>
                <a:latin typeface="Calibri"/>
                <a:ea typeface="Calibri"/>
              </a:rPr>
              <a:t>One building, four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920240" cy="4114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01168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B93A7"/>
                </a:solidFill>
                <a:latin typeface="Calibri"/>
                <a:ea typeface="Calibri"/>
              </a:rPr>
              <a:t>MECH  ×  EEE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07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Future of Smart Buildings  ·  BMS · IoT · AI · Energy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7EB6FF"/>
                </a:solidFill>
                <a:latin typeface="Calibri"/>
                <a:ea typeface="Calibri"/>
              </a:rPr>
              <a:t>The future building is not four products. It is one control and data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595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Working stack: calibrated sensors, documented sequences, open protocols, historian, KPIs operators actually open.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Typical stack: ~10% from sequences, 5–15% from sensors/ops, plus peak cuts.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Digital twins are useful when anchored to live points and physics — not pretty BIM with fake occupancy.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Unsegmented BACnet on the corporate LAN is a design defect. OT/IT zoning belongs in EEE for buildings too.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Operators override “because 4th floor is always hot.” Fix the floor, or the AI is dead by Friday.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Visual: field → controllers → BMS/historian → analytics, with a security band across 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68880" cy="4983480"/>
          </a:xfrm>
          <a:prstGeom prst="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1234440"/>
            <a:ext cx="73152" cy="498348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508760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547"/>
                </a:solidFill>
                <a:latin typeface="Calibri"/>
                <a:ea typeface="Calibri"/>
              </a:rPr>
              <a:t>HOLD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148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DDC97"/>
                </a:solidFill>
                <a:latin typeface="Calibri"/>
                <a:ea typeface="Calibri"/>
              </a:rPr>
              <a:t>OT ≠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148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1E8"/>
                </a:solidFill>
                <a:latin typeface="Calibri"/>
                <a:ea typeface="Calibri"/>
              </a:rPr>
              <a:t>segment the network
or inherit the incident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C97"/>
                </a:solidFill>
                <a:latin typeface="Calibri"/>
                <a:ea typeface="Calibri"/>
              </a:rPr>
              <a:t>08  /  CAREERS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4F1E8"/>
                </a:solidFill>
                <a:latin typeface="Calibri"/>
                <a:ea typeface="Calibri"/>
              </a:rPr>
              <a:t>Where Mech and EEE actually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920240" cy="4114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01168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B93A7"/>
                </a:solidFill>
                <a:latin typeface="Calibri"/>
                <a:ea typeface="Calibri"/>
              </a:rPr>
              <a:t>MECH  ×  EEE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08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Future of Smart Buildings  ·  BMS · IoT · AI · Energy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7EB6FF"/>
                </a:solidFill>
                <a:latin typeface="Calibri"/>
                <a:ea typeface="Calibri"/>
              </a:rPr>
              <a:t>The scarce graduate is not “someone who heard of IoT.” It is someone who can commission a plant.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595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Mechanical: HVAC design, energy models, retro-commissioning, IAQ, fire-smoke control interfaces.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EEE: ELV/BMS, SCADA, metering, VFD harmonics, protection, microgrids, EV charging load.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Shared: controls engineer, energy manager, commissioning authority, campus ESG data owner.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India demand: GCCs, hospitals, airports, data centres, manufacturing parks — plant + digital, not smart-city slogans.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Hire-ready project: BACnet/Modbus logger + chiller kW/TR dashboard + a documented sequence.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Visual: two-column job map; overlap = Controls &amp; Energy.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68880" cy="4983480"/>
          </a:xfrm>
          <a:prstGeom prst="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1234440"/>
            <a:ext cx="73152" cy="498348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508760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547"/>
                </a:solidFill>
                <a:latin typeface="Calibri"/>
                <a:ea typeface="Calibri"/>
              </a:rPr>
              <a:t>HOLD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148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DDC97"/>
                </a:solidFill>
                <a:latin typeface="Calibri"/>
                <a:ea typeface="Calibri"/>
              </a:rPr>
              <a:t>Cx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148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1E8"/>
                </a:solidFill>
                <a:latin typeface="Calibri"/>
                <a:ea typeface="Calibri"/>
              </a:rPr>
              <a:t>commissioning is
the bilingual skill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C97"/>
                </a:solidFill>
                <a:latin typeface="Calibri"/>
                <a:ea typeface="Calibri"/>
              </a:rPr>
              <a:t>09  / 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4F1E8"/>
                </a:solidFill>
                <a:latin typeface="Calibri"/>
                <a:ea typeface="Calibri"/>
              </a:rPr>
              <a:t>What can go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920240" cy="4114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01168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B93A7"/>
                </a:solidFill>
                <a:latin typeface="Calibri"/>
                <a:ea typeface="Calibri"/>
              </a:rPr>
              <a:t>MECH  ×  EEE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09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Future of Smart Buildings  ·  BMS · IoT · AI · Energy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7EB6FF"/>
                </a:solidFill>
                <a:latin typeface="Calibri"/>
                <a:ea typeface="Calibri"/>
              </a:rPr>
              <a:t>A building that saves energy by making people sick is not sustainable. It is a failed controller.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595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Comfort, IAQ, and safety override energy KPIs — always. OA cutbacks without CO2/PM are a health failure.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A ₹2 crore analytics overlay on failed valves is malpractice. 5–20% often sits in maintenance.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Proprietary protocols and cloud-only historians create stranded assets.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Rebound: report absolute kWh and intensity (kWh/m², kWh/occupant), not only % vs last year.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Match compute to the plant. Edge FDD is cheap; giant remote models on a 200 TR plant can be theatre.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Visual: risk matrix — IAQ, cyber, lock-in, payback, data quality.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68880" cy="4983480"/>
          </a:xfrm>
          <a:prstGeom prst="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1234440"/>
            <a:ext cx="73152" cy="498348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508760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547"/>
                </a:solidFill>
                <a:latin typeface="Calibri"/>
                <a:ea typeface="Calibri"/>
              </a:rPr>
              <a:t>HOLD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148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DDC97"/>
                </a:solidFill>
                <a:latin typeface="Calibri"/>
                <a:ea typeface="Calibri"/>
              </a:rPr>
              <a:t>IAQ &gt; kWh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148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1E8"/>
                </a:solidFill>
                <a:latin typeface="Calibri"/>
                <a:ea typeface="Calibri"/>
              </a:rPr>
              <a:t>energy never outranks
health or fire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DDC97"/>
                </a:solidFill>
                <a:latin typeface="Calibri"/>
                <a:ea typeface="Calibri"/>
              </a:rPr>
              <a:t>10  / 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8412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4F1E8"/>
                </a:solidFill>
                <a:latin typeface="Calibri"/>
                <a:ea typeface="Calibri"/>
              </a:rPr>
              <a:t>Make this one tell the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87552"/>
            <a:ext cx="1920240" cy="4114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201168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B93A7"/>
                </a:solidFill>
                <a:latin typeface="Calibri"/>
                <a:ea typeface="Calibri"/>
              </a:rPr>
              <a:t>MECH  ×  EEE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10  / 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Future of Smart Buildings  ·  BMS · IoT · AI · Energy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7EB6FF"/>
                </a:solidFill>
                <a:latin typeface="Calibri"/>
                <a:ea typeface="Calibri"/>
              </a:rPr>
              <a:t>Don’t wait for a smarter building. Learn to make this one tell the truth.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595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Truth = calibrated sensors + documented sequences + submetering + an operator allowed to act.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CTA: pick one AHU or one incoming feeder. Trend it 14 days. Bring waste in kWh, kW, or °C — not slogans.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A commissioning walk-through teaches more than a week of smart-city videos.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Build bilingual skill: one plant diagram + one electrical single-line + a points list.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DDC97"/>
                </a:solidFill>
                <a:latin typeface="Calibri"/>
                <a:ea typeface="Calibri"/>
              </a:rPr>
              <a:t>▸  </a:t>
            </a:r>
            <a:r>
              <a:rPr sz="1500" b="0">
                <a:solidFill>
                  <a:srgbClr val="F4F1E8"/>
                </a:solidFill>
                <a:latin typeface="Calibri"/>
                <a:ea typeface="Calibri"/>
              </a:rPr>
              <a:t>The industry does not need more people who can say “digital twin.” It needs people who can explain 1.0 kW/TR.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8595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Calibri"/>
                <a:ea typeface="Calibri"/>
              </a:rPr>
              <a:t>Visual: dark slide, one sentence, one CTA. No collage.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234440"/>
            <a:ext cx="2468880" cy="4983480"/>
          </a:xfrm>
          <a:prstGeom prst="rect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1234440"/>
            <a:ext cx="73152" cy="498348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508760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547"/>
                </a:solidFill>
                <a:latin typeface="Calibri"/>
                <a:ea typeface="Calibri"/>
              </a:rPr>
              <a:t>HOLD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1488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DDC97"/>
                </a:solidFill>
                <a:latin typeface="Calibri"/>
                <a:ea typeface="Calibri"/>
              </a:rPr>
              <a:t>14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46120"/>
            <a:ext cx="21488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1E8"/>
                </a:solidFill>
                <a:latin typeface="Calibri"/>
                <a:ea typeface="Calibri"/>
              </a:rPr>
              <a:t>one real loop,
then you have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